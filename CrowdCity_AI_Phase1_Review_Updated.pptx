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B23CSP702 Project work Phase I</a:t>
            </a:r>
          </a:p>
          <a:p>
            <a:pPr algn="ctr">
              <a:defRPr sz="2200" b="1">
                <a:solidFill>
                  <a:srgbClr val="D7E6F5"/>
                </a:solidFill>
                <a:latin typeface="Arial"/>
              </a:defRPr>
            </a:pPr>
            <a:r>
              <a:t>FIRST REVIEW</a:t>
            </a:r>
          </a:p>
          <a:p>
            <a:br/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CrowdCity AI</a:t>
            </a:r>
          </a:p>
          <a:p>
            <a:pPr algn="ctr">
              <a:defRPr sz="1900" b="1">
                <a:solidFill>
                  <a:srgbClr val="D7E6F5"/>
                </a:solidFill>
                <a:latin typeface="Arial"/>
              </a:defRPr>
            </a:pPr>
            <a:r>
              <a:t>AI-Powered Smart Civic Engagement and City Management Platform</a:t>
            </a:r>
            <a:br/>
          </a:p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PROJECT TEAM MEMBERS:</a:t>
            </a:r>
            <a:br/>
            <a:r>
              <a:t>[TEAM MEMBER 1 – NAME &amp; REGISTER NUMBER]</a:t>
            </a:r>
            <a:br/>
            <a:r>
              <a:t>[TEAM MEMBER 2 – NAME &amp; REGISTER NUMBER]</a:t>
            </a:r>
            <a:br/>
            <a:r>
              <a:t>[TEAM MEMBER 3 – NAME &amp; REGISTER NUMBER]</a:t>
            </a:r>
            <a:br/>
          </a:p>
          <a:p>
            <a:pPr algn="ctr">
              <a:defRPr sz="1300" b="1">
                <a:solidFill>
                  <a:srgbClr val="D7E6F5"/>
                </a:solidFill>
                <a:latin typeface="Arial"/>
              </a:defRPr>
            </a:pPr>
            <a:r>
              <a:t>PROJECT GUIDE: [GUIDE NAME – DESIGNATION]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Department of Computer Science and Engineering</a:t>
            </a:r>
            <a:br/>
            <a:r>
              <a:t>KIT – Kalaignarkarunanidhi Institute of Technology</a:t>
            </a:r>
            <a:br/>
            <a:r>
              <a:t>Academic Year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2.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1371600"/>
          </a:xfrm>
          <a:prstGeom prst="rect">
            <a:avLst/>
          </a:prstGeom>
          <a:solidFill>
            <a:srgbClr val="F5F6F8"/>
          </a:solidFill>
          <a:ln w="1905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274320"/>
          <a:lstStyle/>
          <a:p>
            <a:pPr algn="ctr">
              <a:spcAft>
                <a:spcPts val="600"/>
              </a:spcAft>
              <a:defRPr sz="1400" b="1">
                <a:solidFill>
                  <a:srgbClr val="1F385C"/>
                </a:solidFill>
                <a:latin typeface="Arial"/>
              </a:defRPr>
            </a:pPr>
            <a:r>
              <a:t>1. URBAN CIVIC INFRASTRUCTURE CONTEXT</a:t>
            </a:r>
          </a:p>
          <a:p>
            <a:pPr>
              <a:defRPr sz="1150">
                <a:solidFill>
                  <a:srgbClr val="1E1E1E"/>
                </a:solidFill>
                <a:latin typeface="Arial"/>
              </a:defRPr>
            </a:pPr>
            <a:r>
              <a:t>• Modern smart cities require seamless digital interaction between citizens and municipal authorities to maintain public safety &amp; infrastructure.</a:t>
            </a:r>
          </a:p>
          <a:p>
            <a:pPr>
              <a:defRPr sz="1150">
                <a:solidFill>
                  <a:srgbClr val="1E1E1E"/>
                </a:solidFill>
                <a:latin typeface="Arial"/>
              </a:defRPr>
            </a:pPr>
            <a:r>
              <a:t>• Prevalent hazards: Potholes, overflowing garbage, drainage blockages, waterlogging, damaged signals, and unlit public thoroughfares.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10728655" cy="164592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2. CROWDCITY AI PLATFORM CORE SOLUTION</a:t>
            </a:r>
          </a:p>
          <a:p>
            <a:pPr>
              <a:defRPr sz="1200" b="1">
                <a:solidFill>
                  <a:srgbClr val="D7E6F5"/>
                </a:solidFill>
                <a:latin typeface="Arial"/>
              </a:defRPr>
            </a:pPr>
            <a:r>
              <a:t>• UNIFIED PLATFORM: Consolidates fragmented reporting, municipal dispatch, and government welfare scheme information into one system.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• MULTI-MODAL AI TRIAGE: Integrates Groq LLM NLP + Vision AI to automatically process text, photos, GPS data, and Tamil/Tanglish voice input.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26280"/>
            <a:ext cx="10728655" cy="1691640"/>
          </a:xfrm>
          <a:prstGeom prst="rect">
            <a:avLst/>
          </a:prstGeom>
          <a:solidFill>
            <a:srgbClr val="F5F6F8"/>
          </a:solidFill>
          <a:ln w="1905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274320"/>
          <a:lstStyle/>
          <a:p>
            <a:pPr algn="ctr">
              <a:spcAft>
                <a:spcPts val="600"/>
              </a:spcAft>
              <a:defRPr sz="1400" b="1">
                <a:solidFill>
                  <a:srgbClr val="1F385C"/>
                </a:solidFill>
                <a:latin typeface="Arial"/>
              </a:defRPr>
            </a:pPr>
            <a:r>
              <a:t>3. TRANSFORMATIVE MUNICIPAL &amp; CITIZEN IMPACT</a:t>
            </a:r>
          </a:p>
          <a:p>
            <a:pPr>
              <a:defRPr sz="1150">
                <a:solidFill>
                  <a:srgbClr val="1E1E1E"/>
                </a:solidFill>
                <a:latin typeface="Arial"/>
              </a:defRPr>
            </a:pPr>
            <a:r>
              <a:t>• Real-time ticket tracking with transparent SLA countdowns for citizens.</a:t>
            </a:r>
          </a:p>
          <a:p>
            <a:pPr>
              <a:defRPr sz="1150">
                <a:solidFill>
                  <a:srgbClr val="1E1E1E"/>
                </a:solidFill>
                <a:latin typeface="Arial"/>
              </a:defRPr>
            </a:pPr>
            <a:r>
              <a:t>• Rule-based Scheme Eligibility Checker enabling instant public welfare service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Fragmented Civic Complaint Reporting: Citizens use disconnected paper/phone/online channels.</a:t>
            </a:r>
          </a:p>
          <a:p>
            <a:pPr>
              <a:spcAft>
                <a:spcPts val="10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Limited Complaint Tracking Transparency: Absence of real-time SLA visibility for citizens.</a:t>
            </a:r>
          </a:p>
          <a:p>
            <a:pPr>
              <a:spcAft>
                <a:spcPts val="10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Manual Categorization &amp; Prioritization: Human triage delays department dispatch and resolution.</a:t>
            </a:r>
          </a:p>
          <a:p>
            <a:pPr>
              <a:spcAft>
                <a:spcPts val="10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Insufficient Context &amp; Location: Complaints lack precise GPS coordinates or visual evidence.</a:t>
            </a:r>
          </a:p>
          <a:p>
            <a:pPr>
              <a:spcAft>
                <a:spcPts val="10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Scattered Government Services: Welfare scheme information is distributed across complex portals.</a:t>
            </a:r>
          </a:p>
          <a:p>
            <a:pPr>
              <a:spcAft>
                <a:spcPts val="10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Limited Multilingual Assistance: Language barriers hinder non-English speaking citizens.</a:t>
            </a:r>
          </a:p>
          <a:p>
            <a:pPr>
              <a:spcAft>
                <a:spcPts val="10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Lack of Unified Platform: Disconnect between citizen reporting and authority operations.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051560"/>
            <a:ext cx="3596335" cy="5257800"/>
          </a:xfrm>
          <a:prstGeom prst="rect">
            <a:avLst/>
          </a:prstGeom>
          <a:solidFill>
            <a:srgbClr val="F5F6F8"/>
          </a:solidFill>
          <a:ln w="1905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182880" rIns="182880"/>
          <a:lstStyle/>
          <a:p>
            <a:pPr algn="ctr">
              <a:defRPr sz="1300" b="1">
                <a:solidFill>
                  <a:srgbClr val="1F385C"/>
                </a:solidFill>
                <a:latin typeface="Arial"/>
              </a:defRPr>
            </a:pPr>
            <a:r>
              <a:t>CIVIC PROBLEM BOTTLENECK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600200"/>
            <a:ext cx="3047695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1E1E"/>
                </a:solidFill>
                <a:latin typeface="Arial"/>
              </a:defRPr>
            </a:pPr>
            <a:r>
              <a:t>Fragmented Channels</a:t>
            </a:r>
            <a:br/>
            <a:r>
              <a:t>(Paper / Phone / Portals)</a:t>
            </a:r>
          </a:p>
        </p:txBody>
      </p:sp>
      <p:sp>
        <p:nvSpPr>
          <p:cNvPr id="8" name="Down Arrow 7"/>
          <p:cNvSpPr/>
          <p:nvPr/>
        </p:nvSpPr>
        <p:spPr>
          <a:xfrm>
            <a:off x="9555480" y="2350008"/>
            <a:ext cx="228600" cy="201168"/>
          </a:xfrm>
          <a:prstGeom prst="downArrow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2560320"/>
            <a:ext cx="3047695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1E1E"/>
                </a:solidFill>
                <a:latin typeface="Arial"/>
              </a:defRPr>
            </a:pPr>
            <a:r>
              <a:t>Manual Triage &amp; Routing</a:t>
            </a:r>
            <a:br/>
            <a:r>
              <a:t>(Human Processing Delays)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555480" y="3310127"/>
            <a:ext cx="228600" cy="201168"/>
          </a:xfrm>
          <a:prstGeom prst="downArrow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3520439"/>
            <a:ext cx="3047695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1E1E"/>
                </a:solidFill>
                <a:latin typeface="Arial"/>
              </a:defRPr>
            </a:pPr>
            <a:r>
              <a:t>Lack of SLA Tracking</a:t>
            </a:r>
            <a:br/>
            <a:r>
              <a:t>(No Real-Time Visibility)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555480" y="4270248"/>
            <a:ext cx="228600" cy="201168"/>
          </a:xfrm>
          <a:prstGeom prst="downArrow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4480559"/>
            <a:ext cx="3047695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1E1E"/>
                </a:solidFill>
                <a:latin typeface="Arial"/>
              </a:defRPr>
            </a:pPr>
            <a:r>
              <a:t>Delayed Resolution</a:t>
            </a:r>
            <a:br/>
            <a:r>
              <a:t>(Administrative Backlog)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4.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383280" cy="5120640"/>
          </a:xfrm>
          <a:prstGeom prst="rect">
            <a:avLst/>
          </a:prstGeom>
          <a:solidFill>
            <a:srgbClr val="F5F6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28600" lIns="228600" rIns="228600" wrap="square"/>
          <a:lstStyle/>
          <a:p>
            <a:pPr algn="ctr">
              <a:spcAft>
                <a:spcPts val="1000"/>
              </a:spcAft>
              <a:defRPr sz="1350" b="1">
                <a:solidFill>
                  <a:srgbClr val="1F385C"/>
                </a:solidFill>
                <a:latin typeface="Arial"/>
              </a:defRPr>
            </a:pPr>
            <a:r>
              <a:t>1. DISCONNECTED SYSTEMS</a:t>
            </a:r>
          </a:p>
          <a:p>
            <a:pPr>
              <a:spcAft>
                <a:spcPts val="8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Paper Forms at Zonal Offices: Physical paperwork submitted in person, causing long travel &amp; queue delays.</a:t>
            </a:r>
          </a:p>
          <a:p>
            <a:pPr>
              <a:spcAft>
                <a:spcPts val="8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Separate Web Portals: Disconnected websites for roads, water, and lighting requiring multiple logins.</a:t>
            </a:r>
          </a:p>
          <a:p>
            <a:pPr>
              <a:spcAft>
                <a:spcPts val="8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Telephonic Helplines: Phone hotlines with long call wait times and no photo evidence upload.</a:t>
            </a:r>
          </a:p>
          <a:p>
            <a:pPr>
              <a:spcAft>
                <a:spcPts val="8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Isolated Department Databases: Information is locked in separate systems with zero data sharing.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097280"/>
            <a:ext cx="3383280" cy="512064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28600" lIns="228600" rIns="228600" wrap="square"/>
          <a:lstStyle/>
          <a:p>
            <a:pPr algn="ctr">
              <a:spcAft>
                <a:spcPts val="1000"/>
              </a:spcAft>
              <a:defRPr sz="1350" b="1">
                <a:solidFill>
                  <a:srgbClr val="FFFFFF"/>
                </a:solidFill>
                <a:latin typeface="Arial"/>
              </a:defRPr>
            </a:pPr>
            <a:r>
              <a:t>2. OPERATIONAL BOTTLENECKS</a:t>
            </a:r>
          </a:p>
          <a:p>
            <a:pPr>
              <a:spcAft>
                <a:spcPts val="800"/>
              </a:spcAft>
              <a:defRPr sz="1050">
                <a:solidFill>
                  <a:srgbClr val="D7E6F5"/>
                </a:solidFill>
                <a:latin typeface="Arial"/>
              </a:defRPr>
            </a:pPr>
            <a:r>
              <a:t>• Manual Complaint Triage: Human staff must manually read, verify, and assign every ticket to departments.</a:t>
            </a:r>
          </a:p>
          <a:p>
            <a:pPr>
              <a:spcAft>
                <a:spcPts val="800"/>
              </a:spcAft>
              <a:defRPr sz="1050">
                <a:solidFill>
                  <a:srgbClr val="D7E6F5"/>
                </a:solidFill>
                <a:latin typeface="Arial"/>
              </a:defRPr>
            </a:pPr>
            <a:r>
              <a:t>• Missing Location Coordinates: No GPS map tracking, making it hard for field inspectors to locate issues.</a:t>
            </a:r>
          </a:p>
          <a:p>
            <a:pPr>
              <a:spcAft>
                <a:spcPts val="800"/>
              </a:spcAft>
              <a:defRPr sz="1050">
                <a:solidFill>
                  <a:srgbClr val="D7E6F5"/>
                </a:solidFill>
                <a:latin typeface="Arial"/>
              </a:defRPr>
            </a:pPr>
            <a:r>
              <a:t>• Language &amp; Tech Barriers: Portals require English, creating barriers for regional language speakers.</a:t>
            </a:r>
          </a:p>
          <a:p>
            <a:pPr>
              <a:spcAft>
                <a:spcPts val="800"/>
              </a:spcAft>
              <a:defRPr sz="1050">
                <a:solidFill>
                  <a:srgbClr val="D7E6F5"/>
                </a:solidFill>
                <a:latin typeface="Arial"/>
              </a:defRPr>
            </a:pPr>
            <a:r>
              <a:t>• No SLA Tracking: Citizens cannot track progress or know when their complaint will be resolved.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097280"/>
            <a:ext cx="3413455" cy="5120640"/>
          </a:xfrm>
          <a:prstGeom prst="rect">
            <a:avLst/>
          </a:prstGeom>
          <a:solidFill>
            <a:srgbClr val="F5F6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28600" lIns="228600" rIns="228600" wrap="square"/>
          <a:lstStyle/>
          <a:p>
            <a:pPr algn="ctr">
              <a:spcAft>
                <a:spcPts val="1000"/>
              </a:spcAft>
              <a:defRPr sz="1350" b="1">
                <a:solidFill>
                  <a:srgbClr val="1F385C"/>
                </a:solidFill>
                <a:latin typeface="Arial"/>
              </a:defRPr>
            </a:pPr>
            <a:r>
              <a:t>3. SYSTEMIC LIMITATIONS</a:t>
            </a:r>
          </a:p>
          <a:p>
            <a:pPr>
              <a:spcAft>
                <a:spcPts val="8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Resolution Backlogs: Administrative delays causing complaints to remain unresolved for weeks.</a:t>
            </a:r>
          </a:p>
          <a:p>
            <a:pPr>
              <a:spcAft>
                <a:spcPts val="8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Citizen Distrust: Lack of status updates leads to public dissatisfaction with municipal services.</a:t>
            </a:r>
          </a:p>
          <a:p>
            <a:pPr>
              <a:spcAft>
                <a:spcPts val="8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Duplicate Complaints: Multiple citizens report the same issue separately without a shared map.</a:t>
            </a:r>
          </a:p>
          <a:p>
            <a:pPr>
              <a:spcAft>
                <a:spcPts val="8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No Welfare Integration: Scheme eligibility and emergency services are completely disconnected.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5. 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24128"/>
            <a:ext cx="10728655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F385C"/>
                </a:solidFill>
                <a:latin typeface="Arial"/>
              </a:defRPr>
            </a:pPr>
            <a:r>
              <a:t>1. INPUT SOURCES:  </a:t>
            </a:r>
            <a:r>
              <a:rPr b="0" sz="1100">
                <a:solidFill>
                  <a:srgbClr val="1F385C"/>
                </a:solidFill>
              </a:rPr>
              <a:t>Citizen Web Portal  |  PWA Mobile App  |  Web Speech API (Tamil/Tanglish Voice)  |  GPS &amp; Photo Uploads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73936"/>
            <a:ext cx="10728655" cy="658368"/>
          </a:xfrm>
          <a:prstGeom prst="rect">
            <a:avLst/>
          </a:prstGeom>
          <a:solidFill>
            <a:srgbClr val="1F385C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2. CLOUD API GATEWAY:  </a:t>
            </a:r>
            <a:r>
              <a:rPr b="0" sz="1100">
                <a:solidFill>
                  <a:srgbClr val="FFFFFF"/>
                </a:solidFill>
              </a:rPr>
              <a:t>Node.js Express REST API  |  Data Ingestion Engine  |  AI Inference Router  |  Real-Time Alerting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23744"/>
            <a:ext cx="10728655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E1E1E"/>
                </a:solidFill>
                <a:latin typeface="Arial"/>
              </a:defRPr>
            </a:pPr>
            <a:r>
              <a:t>3. PREPROCESSING:  </a:t>
            </a:r>
            <a:r>
              <a:rPr b="0" sz="1100">
                <a:solidFill>
                  <a:srgbClr val="1E1E1E"/>
                </a:solidFill>
              </a:rPr>
              <a:t>HTML Sanitization  |  Text Normalization  |  Base64 Image Compression  |  GPS Haversine Clustering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73551"/>
            <a:ext cx="10728655" cy="658368"/>
          </a:xfrm>
          <a:prstGeom prst="rect">
            <a:avLst/>
          </a:prstGeom>
          <a:solidFill>
            <a:srgbClr val="1F385C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4. CORE AI ALGORITHM (MODEL):  </a:t>
            </a:r>
            <a:r>
              <a:rPr b="0" sz="1100">
                <a:solidFill>
                  <a:srgbClr val="FFFFFF"/>
                </a:solidFill>
              </a:rPr>
              <a:t>Groq LPU Engine  |  openai/gpt-oss-120b (NLP Triage)  |  Groq Multi-Modal Vision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023359"/>
            <a:ext cx="10728655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E1E1E"/>
                </a:solidFill>
                <a:latin typeface="Arial"/>
              </a:defRPr>
            </a:pPr>
            <a:r>
              <a:t>5. OUTPUT &amp; TRIAGE:  </a:t>
            </a:r>
            <a:r>
              <a:rPr b="0" sz="1100">
                <a:solidFill>
                  <a:srgbClr val="1E1E1E"/>
                </a:solidFill>
              </a:rPr>
              <a:t>Department Auto-Assignment  |  Urgency &amp; Priority Rating (1-5)  |  Rule-Based Scheme Eligibility Match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73168"/>
            <a:ext cx="10728655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E1E1E"/>
                </a:solidFill>
                <a:latin typeface="Arial"/>
              </a:defRPr>
            </a:pPr>
            <a:r>
              <a:t>6. COMMUNICATION &amp; DASHBOARDS:  </a:t>
            </a:r>
            <a:r>
              <a:rPr b="0" sz="1100">
                <a:solidFill>
                  <a:srgbClr val="1E1E1E"/>
                </a:solidFill>
              </a:rPr>
              <a:t>Authority Operations Console  |  Citizen Live SLA Map Feed  |  Automated Status Notifications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522976"/>
            <a:ext cx="10728655" cy="658368"/>
          </a:xfrm>
          <a:prstGeom prst="rect">
            <a:avLst/>
          </a:prstGeom>
          <a:solidFill>
            <a:srgbClr val="1F385C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7. DATABASE &amp; PERSISTENCE:  </a:t>
            </a:r>
            <a:r>
              <a:rPr b="0" sz="1100">
                <a:solidFill>
                  <a:srgbClr val="FFFFFF"/>
                </a:solidFill>
              </a:rPr>
              <a:t>Supabase PostgreSQL Database (Primary Storage)  |  MongoDB Secondary Fallback 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993392" cy="68580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PILLAR 1</a:t>
            </a:r>
            <a:br/>
            <a:r>
              <a:t>Centralized</a:t>
            </a:r>
            <a:br/>
            <a:r>
              <a:t>Civic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993392" cy="365760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137160" rIns="137160" wrap="square"/>
          <a:lstStyle/>
          <a:p>
            <a:pPr algn="ctr">
              <a:defRPr sz="1100">
                <a:solidFill>
                  <a:srgbClr val="1E1E1E"/>
                </a:solidFill>
                <a:latin typeface="Arial"/>
              </a:defRPr>
            </a:pPr>
            <a:r>
              <a:t>Unified portal for citizen complaint submission, tracking &amp; authority ops.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7792" y="1097280"/>
            <a:ext cx="1993392" cy="68580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PILLAR 2</a:t>
            </a:r>
            <a:br/>
            <a:r>
              <a:t>AI Triage &amp;</a:t>
            </a:r>
            <a:br/>
            <a:r>
              <a:t>Assistance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7792" y="1828800"/>
            <a:ext cx="1993392" cy="365760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137160" rIns="137160" wrap="square"/>
          <a:lstStyle/>
          <a:p>
            <a:pPr algn="ctr">
              <a:defRPr sz="1100">
                <a:solidFill>
                  <a:srgbClr val="1E1E1E"/>
                </a:solidFill>
                <a:latin typeface="Arial"/>
              </a:defRPr>
            </a:pPr>
            <a:r>
              <a:t>Groq LLM for automated complaint routing &amp; multilingual NLP assistance.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4064" y="1097280"/>
            <a:ext cx="1993392" cy="68580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PILLAR 3</a:t>
            </a:r>
            <a:br/>
            <a:r>
              <a:t>Spatial &amp;</a:t>
            </a:r>
            <a:br/>
            <a:r>
              <a:t>Multi-Modal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4064" y="1828800"/>
            <a:ext cx="1993392" cy="365760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137160" rIns="137160" wrap="square"/>
          <a:lstStyle/>
          <a:p>
            <a:pPr algn="ctr">
              <a:defRPr sz="1100">
                <a:solidFill>
                  <a:srgbClr val="1E1E1E"/>
                </a:solidFill>
                <a:latin typeface="Arial"/>
              </a:defRPr>
            </a:pPr>
            <a:r>
              <a:t>GPS location tagging &amp; vision photo analysis for hazard verification.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0336" y="1097280"/>
            <a:ext cx="1993392" cy="68580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PILLAR 4</a:t>
            </a:r>
            <a:br/>
            <a:r>
              <a:t>Government</a:t>
            </a:r>
            <a:br/>
            <a:r>
              <a:t>Services Hub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0336" y="1828800"/>
            <a:ext cx="1993392" cy="365760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137160" rIns="137160" wrap="square"/>
          <a:lstStyle/>
          <a:p>
            <a:pPr algn="ctr">
              <a:defRPr sz="1100">
                <a:solidFill>
                  <a:srgbClr val="1E1E1E"/>
                </a:solidFill>
                <a:latin typeface="Arial"/>
              </a:defRPr>
            </a:pPr>
            <a:r>
              <a:t>Central welfare scheme repository &amp; rule-based eligibility checker.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36608" y="1097280"/>
            <a:ext cx="1993392" cy="68580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PILLAR 5</a:t>
            </a:r>
            <a:br/>
            <a:r>
              <a:t>Public Trust &amp;</a:t>
            </a:r>
            <a:br/>
            <a:r>
              <a:t>Transparency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36608" y="1828800"/>
            <a:ext cx="1993392" cy="365760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137160" rIns="137160" wrap="square"/>
          <a:lstStyle/>
          <a:p>
            <a:pPr algn="ctr">
              <a:defRPr sz="1100">
                <a:solidFill>
                  <a:srgbClr val="1E1E1E"/>
                </a:solidFill>
                <a:latin typeface="Arial"/>
              </a:defRPr>
            </a:pPr>
            <a:r>
              <a:t>Real-time SLA resolution countdowns, upvoting &amp; civic rewards.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532120"/>
            <a:ext cx="10728655" cy="64008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FOUNDATION: CROWDCITY INTEGRATED CSE 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7.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7295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645920"/>
                <a:gridCol w="2103120"/>
                <a:gridCol w="2011680"/>
                <a:gridCol w="2468880"/>
                <a:gridCol w="2499055"/>
              </a:tblGrid>
              <a:tr h="8763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S.No.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/ Topic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 / Technology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S. Mellouer et al.</a:t>
                      </a:r>
                      <a:br/>
                      <a:r>
                        <a:t>(2023)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Smart City Civic Issue Reporting Systems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Mobile Crowdsensing &amp; GIS Mapping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Enhanced spatial hazard mapping accuracy and citizen participation.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High battery consumption; lacks automated AI triage.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A. Kumar et al.</a:t>
                      </a:r>
                      <a:br/>
                      <a:r>
                        <a:t>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Deep Learning for Municipal Pothole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CNN &amp; Computer Vision (YOLOv5)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Achieved 91% accuracy in detecting road craters from citizen photos.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Limited to road hazards; lacks backend authority integration.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R. Sharma et al.</a:t>
                      </a:r>
                      <a:br/>
                      <a:r>
                        <a:t>(2024)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NLP Chatbots in Public Administration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LLMs &amp; Retrieval-Augmented Generation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Improved public query resolution response speed by 45%.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English-only focus; lacks Tamil/Tanglish multi-lingual support.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M. Patel et al.</a:t>
                      </a:r>
                      <a:br/>
                      <a:r>
                        <a:t>(2021)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Automated Complaint Triage in E-Governance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Text Classification &amp; 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Automated department routing for text-based citizen grievances.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Inability to analyze multi-modal image evidence or GPS context.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K. Varma et al.</a:t>
                      </a:r>
                      <a:br/>
                      <a:r>
                        <a:t>(2023)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Integrated Welfare Scheme Eligibility Engines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Rule-Based Engines &amp; Indexing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Streamlined welfare scheme matching for underprivileged citizens.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Static rules without conversational AI guidance or tracking.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8.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120640" cy="4114800"/>
          </a:xfrm>
          <a:prstGeom prst="rect">
            <a:avLst/>
          </a:prstGeom>
          <a:solidFill>
            <a:srgbClr val="F5F6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0" lIns="320040" rIns="320040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1F385C"/>
                </a:solidFill>
                <a:latin typeface="Arial"/>
              </a:defRPr>
            </a:pPr>
            <a:r>
              <a:t>EXISTING RESEARCH &amp; SYSTEMS</a:t>
            </a:r>
          </a:p>
          <a:p>
            <a:pPr algn="l">
              <a:spcAft>
                <a:spcPts val="10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Separate Civic Reporting Portals</a:t>
            </a:r>
          </a:p>
          <a:p>
            <a:pPr algn="l">
              <a:spcAft>
                <a:spcPts val="10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Separate Government Services Sites</a:t>
            </a:r>
          </a:p>
          <a:p>
            <a:pPr algn="l">
              <a:spcAft>
                <a:spcPts val="10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Standalone AI Chatbot Prototypes</a:t>
            </a:r>
          </a:p>
          <a:p>
            <a:pPr algn="l">
              <a:spcAft>
                <a:spcPts val="10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Isolated GIS Mapping Systems</a:t>
            </a:r>
          </a:p>
          <a:p>
            <a:pPr algn="l">
              <a:spcAft>
                <a:spcPts val="10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Basic Single-Purpose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49240"/>
            <a:ext cx="1072865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7E6F5"/>
                </a:solidFill>
                <a:latin typeface="Arial"/>
              </a:defRPr>
            </a:pPr>
            <a:r>
              <a:t>IDENTIFIED RESEARCH GAP:</a:t>
            </a:r>
          </a:p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Lack of a single unified implementation combining Civic Reporting + AI Triage + GIS Location + Government Services + Authority Operations.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9535" y="1097280"/>
            <a:ext cx="5120640" cy="4114800"/>
          </a:xfrm>
          <a:prstGeom prst="rect">
            <a:avLst/>
          </a:prstGeom>
          <a:solidFill>
            <a:srgbClr val="F5F6F8"/>
          </a:solidFill>
          <a:ln w="1905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0" lIns="320040" rIns="320040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1F385C"/>
                </a:solidFill>
                <a:latin typeface="Arial"/>
              </a:defRPr>
            </a:pPr>
            <a:r>
              <a:t>CROWDCITY AI UNIFIED SOLUTION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1E1E"/>
                </a:solidFill>
                <a:latin typeface="Arial"/>
              </a:defRPr>
            </a:pPr>
            <a:r>
              <a:t>• Unified Citizen &amp; Authority Architecture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1E1E"/>
                </a:solidFill>
                <a:latin typeface="Arial"/>
              </a:defRPr>
            </a:pPr>
            <a:r>
              <a:t>• Multi-Modal AI (Text NLP + Vision AI + Voice)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1E1E"/>
                </a:solidFill>
                <a:latin typeface="Arial"/>
              </a:defRPr>
            </a:pPr>
            <a:r>
              <a:t>• Integrated Spatial Geolocation &amp; Leaflet Maps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1E1E"/>
                </a:solidFill>
                <a:latin typeface="Arial"/>
              </a:defRPr>
            </a:pPr>
            <a:r>
              <a:t>• Single-Window Government Services &amp; Scheme Engine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1E1E"/>
                </a:solidFill>
                <a:latin typeface="Arial"/>
              </a:defRPr>
            </a:pPr>
            <a:r>
              <a:t>• Real-Time Operational Dashboard &amp; SLA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9.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5120640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5C"/>
                </a:solidFill>
                <a:latin typeface="Arial"/>
              </a:defRPr>
            </a:pPr>
            <a:r>
              <a:t>1. Citizen Input: </a:t>
            </a:r>
            <a:r>
              <a:rPr b="0">
                <a:solidFill>
                  <a:srgbClr val="1E1E1E"/>
                </a:solidFill>
              </a:rPr>
              <a:t>Text, Voice, Photo &amp; GPS Tag</a:t>
            </a:r>
          </a:p>
        </p:txBody>
      </p:sp>
      <p:sp>
        <p:nvSpPr>
          <p:cNvPr id="6" name="Down Arrow 5"/>
          <p:cNvSpPr/>
          <p:nvPr/>
        </p:nvSpPr>
        <p:spPr>
          <a:xfrm>
            <a:off x="3108960" y="1709928"/>
            <a:ext cx="228600" cy="146304"/>
          </a:xfrm>
          <a:prstGeom prst="downArrow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56231"/>
            <a:ext cx="5120640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5C"/>
                </a:solidFill>
                <a:latin typeface="Arial"/>
              </a:defRPr>
            </a:pPr>
            <a:r>
              <a:t>2. Authentication: </a:t>
            </a:r>
            <a:r>
              <a:rPr b="0">
                <a:solidFill>
                  <a:srgbClr val="1E1E1E"/>
                </a:solidFill>
              </a:rPr>
              <a:t>JWT &amp; Role Access Control</a:t>
            </a:r>
          </a:p>
        </p:txBody>
      </p:sp>
      <p:sp>
        <p:nvSpPr>
          <p:cNvPr id="8" name="Down Arrow 7"/>
          <p:cNvSpPr/>
          <p:nvPr/>
        </p:nvSpPr>
        <p:spPr>
          <a:xfrm>
            <a:off x="3108960" y="2514600"/>
            <a:ext cx="228600" cy="146304"/>
          </a:xfrm>
          <a:prstGeom prst="downArrow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60903"/>
            <a:ext cx="5120640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5C"/>
                </a:solidFill>
                <a:latin typeface="Arial"/>
              </a:defRPr>
            </a:pPr>
            <a:r>
              <a:t>3. Request Dispatch: </a:t>
            </a:r>
            <a:r>
              <a:rPr b="0">
                <a:solidFill>
                  <a:srgbClr val="1E1E1E"/>
                </a:solidFill>
              </a:rPr>
              <a:t>Issue / Scheme Routing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108960" y="3319272"/>
            <a:ext cx="228600" cy="146304"/>
          </a:xfrm>
          <a:prstGeom prst="downArrow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465575"/>
            <a:ext cx="5120640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5C"/>
                </a:solidFill>
                <a:latin typeface="Arial"/>
              </a:defRPr>
            </a:pPr>
            <a:r>
              <a:t>4. AI Processing: </a:t>
            </a:r>
            <a:r>
              <a:rPr b="0">
                <a:solidFill>
                  <a:srgbClr val="1E1E1E"/>
                </a:solidFill>
              </a:rPr>
              <a:t>Groq LLM + Vision AI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108960" y="4123944"/>
            <a:ext cx="228600" cy="146304"/>
          </a:xfrm>
          <a:prstGeom prst="downArrow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270248"/>
            <a:ext cx="5120640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5C"/>
                </a:solidFill>
                <a:latin typeface="Arial"/>
              </a:defRPr>
            </a:pPr>
            <a:r>
              <a:t>5. Smart Triage: </a:t>
            </a:r>
            <a:r>
              <a:rPr b="0">
                <a:solidFill>
                  <a:srgbClr val="1E1E1E"/>
                </a:solidFill>
              </a:rPr>
              <a:t>Category &amp; Priority Assign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108960" y="4928616"/>
            <a:ext cx="228600" cy="146304"/>
          </a:xfrm>
          <a:prstGeom prst="downArrow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74920"/>
            <a:ext cx="5120640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5C"/>
                </a:solidFill>
                <a:latin typeface="Arial"/>
              </a:defRPr>
            </a:pPr>
            <a:r>
              <a:t>6. REST API Backend: </a:t>
            </a:r>
            <a:r>
              <a:rPr b="0">
                <a:solidFill>
                  <a:srgbClr val="1E1E1E"/>
                </a:solidFill>
              </a:rPr>
              <a:t>Node.js &amp; Express Controller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9535" y="1051560"/>
            <a:ext cx="5120640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5C"/>
                </a:solidFill>
                <a:latin typeface="Arial"/>
              </a:defRPr>
            </a:pPr>
            <a:r>
              <a:t>7. Database: </a:t>
            </a:r>
            <a:r>
              <a:rPr b="0">
                <a:solidFill>
                  <a:srgbClr val="1E1E1E"/>
                </a:solidFill>
              </a:rPr>
              <a:t>Supabase PostgreSQL Persistence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686800" y="1709928"/>
            <a:ext cx="228600" cy="146304"/>
          </a:xfrm>
          <a:prstGeom prst="downArrow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39535" y="1856231"/>
            <a:ext cx="5120640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5C"/>
                </a:solidFill>
                <a:latin typeface="Arial"/>
              </a:defRPr>
            </a:pPr>
            <a:r>
              <a:t>8. Authority Ops: </a:t>
            </a:r>
            <a:r>
              <a:rPr b="0">
                <a:solidFill>
                  <a:srgbClr val="1E1E1E"/>
                </a:solidFill>
              </a:rPr>
              <a:t>Operational Task Execution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686800" y="2514600"/>
            <a:ext cx="228600" cy="146304"/>
          </a:xfrm>
          <a:prstGeom prst="downArrow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9535" y="2660903"/>
            <a:ext cx="5120640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5C"/>
                </a:solidFill>
                <a:latin typeface="Arial"/>
              </a:defRPr>
            </a:pPr>
            <a:r>
              <a:t>9. Status Update: </a:t>
            </a:r>
            <a:r>
              <a:rPr b="0">
                <a:solidFill>
                  <a:srgbClr val="1E1E1E"/>
                </a:solidFill>
              </a:rPr>
              <a:t>SLA Resolution State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686800" y="3319272"/>
            <a:ext cx="228600" cy="146304"/>
          </a:xfrm>
          <a:prstGeom prst="downArrow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9535" y="3465575"/>
            <a:ext cx="5120640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5C"/>
                </a:solidFill>
                <a:latin typeface="Arial"/>
              </a:defRPr>
            </a:pPr>
            <a:r>
              <a:t>10. Notification: </a:t>
            </a:r>
            <a:r>
              <a:rPr b="0">
                <a:solidFill>
                  <a:srgbClr val="1E1E1E"/>
                </a:solidFill>
              </a:rPr>
              <a:t>Citizen Live Tracking Push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686800" y="4123944"/>
            <a:ext cx="228600" cy="146304"/>
          </a:xfrm>
          <a:prstGeom prst="downArrow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9535" y="4270248"/>
            <a:ext cx="5120640" cy="658368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5C"/>
                </a:solidFill>
                <a:latin typeface="Arial"/>
              </a:defRPr>
            </a:pPr>
            <a:r>
              <a:t>11. Citizen Tracking: </a:t>
            </a:r>
            <a:r>
              <a:rPr b="0">
                <a:solidFill>
                  <a:srgbClr val="1E1E1E"/>
                </a:solidFill>
              </a:rPr>
              <a:t>Real-Time Map &amp; SLA Feed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10.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777240"/>
          </a:xfrm>
          <a:prstGeom prst="rect">
            <a:avLst/>
          </a:prstGeom>
          <a:solidFill>
            <a:srgbClr val="1F385C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USER LAYER</a:t>
            </a:r>
            <a:br/>
          </a:p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Citizen Mobile/Desktop Portal  |  Authority Operations Console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39"/>
            <a:ext cx="10728655" cy="7772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1E1E"/>
                </a:solidFill>
                <a:latin typeface="Arial"/>
              </a:defRPr>
            </a:pPr>
            <a:r>
              <a:t>FRONTEND LAYER</a:t>
            </a:r>
            <a:br/>
          </a:p>
          <a:p>
            <a:pPr algn="ctr">
              <a:defRPr sz="1100" b="0">
                <a:solidFill>
                  <a:srgbClr val="1E1E1E"/>
                </a:solidFill>
                <a:latin typeface="Arial"/>
              </a:defRPr>
            </a:pPr>
            <a:r>
              <a:t>Vanilla HTML5  |  Vanilla CSS3  |  Vanilla JavaScript ES6+  |  PWA  |  Leaflet.js  |  Web Speech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88920"/>
            <a:ext cx="10728655" cy="7772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1E1E"/>
                </a:solidFill>
                <a:latin typeface="Arial"/>
              </a:defRPr>
            </a:pPr>
            <a:r>
              <a:t>BACKEND LAYER</a:t>
            </a:r>
            <a:br/>
          </a:p>
          <a:p>
            <a:pPr algn="ctr">
              <a:defRPr sz="1100" b="0">
                <a:solidFill>
                  <a:srgbClr val="1E1E1E"/>
                </a:solidFill>
                <a:latin typeface="Arial"/>
              </a:defRPr>
            </a:pPr>
            <a:r>
              <a:t>Node.js Runtime  |  Express.js Framework  |  RESTful APIs  |  JWT Auth &amp; bcryptjs  |  MVC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10728655" cy="7772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1E1E"/>
                </a:solidFill>
                <a:latin typeface="Arial"/>
              </a:defRPr>
            </a:pPr>
            <a:r>
              <a:t>AI LAYER</a:t>
            </a:r>
            <a:br/>
          </a:p>
          <a:p>
            <a:pPr algn="ctr">
              <a:defRPr sz="1100" b="0">
                <a:solidFill>
                  <a:srgbClr val="1E1E1E"/>
                </a:solidFill>
                <a:latin typeface="Arial"/>
              </a:defRPr>
            </a:pPr>
            <a:r>
              <a:t>Groq LPU Inference Engine  |  openai/gpt-oss-120b (NLP Triage)  |  Groq Vision AI (Image Detection)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26280"/>
            <a:ext cx="10728655" cy="7772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1E1E"/>
                </a:solidFill>
                <a:latin typeface="Arial"/>
              </a:defRPr>
            </a:pPr>
            <a:r>
              <a:t>DATABASE LAYER</a:t>
            </a:r>
            <a:br/>
          </a:p>
          <a:p>
            <a:pPr algn="ctr">
              <a:defRPr sz="1100" b="0">
                <a:solidFill>
                  <a:srgbClr val="1E1E1E"/>
                </a:solidFill>
                <a:latin typeface="Arial"/>
              </a:defRPr>
            </a:pPr>
            <a:r>
              <a:t>Supabase PostgreSQL Database  |  MongoDB Fallback Data 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94960"/>
            <a:ext cx="10728655" cy="777240"/>
          </a:xfrm>
          <a:prstGeom prst="rect">
            <a:avLst/>
          </a:prstGeom>
          <a:solidFill>
            <a:srgbClr val="1F385C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OUTPUT &amp; SERVICES</a:t>
            </a:r>
            <a:br/>
          </a:p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Complaint Management  |  Authority Operations  |  Interactive Maps  |  Govt Hub  |  Scheme Checker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11.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4389120" y="2926080"/>
            <a:ext cx="3413455" cy="118872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CROWDCITY CORE KERNEL</a:t>
            </a:r>
            <a:br/>
          </a:p>
          <a:p>
            <a:pPr algn="ctr">
              <a:defRPr sz="1050">
                <a:solidFill>
                  <a:srgbClr val="D7E6F5"/>
                </a:solidFill>
                <a:latin typeface="Arial"/>
              </a:defRPr>
            </a:pPr>
            <a:r>
              <a:t>Integrated System Controller &amp; Event Dispatcher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3413455" cy="118872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137160"/>
          <a:lstStyle/>
          <a:p>
            <a:pPr algn="ctr">
              <a:defRPr sz="1100" b="1">
                <a:solidFill>
                  <a:srgbClr val="1F385C"/>
                </a:solidFill>
                <a:latin typeface="Arial"/>
              </a:defRPr>
            </a:pPr>
            <a:r>
              <a:t>1. Auth &amp; User Management</a:t>
            </a:r>
          </a:p>
          <a:p>
            <a:pPr algn="ctr">
              <a:defRPr sz="1000">
                <a:solidFill>
                  <a:srgbClr val="1E1E1E"/>
                </a:solidFill>
                <a:latin typeface="Arial"/>
              </a:defRPr>
            </a:pPr>
            <a:r>
              <a:t>JWT RBAC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051560"/>
            <a:ext cx="3413455" cy="118872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137160"/>
          <a:lstStyle/>
          <a:p>
            <a:pPr algn="ctr">
              <a:defRPr sz="1100" b="1">
                <a:solidFill>
                  <a:srgbClr val="1F385C"/>
                </a:solidFill>
                <a:latin typeface="Arial"/>
              </a:defRPr>
            </a:pPr>
            <a:r>
              <a:t>2. Civic Issue Reporting</a:t>
            </a:r>
          </a:p>
          <a:p>
            <a:pPr algn="ctr">
              <a:defRPr sz="1000">
                <a:solidFill>
                  <a:srgbClr val="1E1E1E"/>
                </a:solidFill>
                <a:latin typeface="Arial"/>
              </a:defRPr>
            </a:pPr>
            <a:r>
              <a:t>Photo &amp; Geolocation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051560"/>
            <a:ext cx="3413455" cy="118872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137160"/>
          <a:lstStyle/>
          <a:p>
            <a:pPr algn="ctr">
              <a:defRPr sz="1100" b="1">
                <a:solidFill>
                  <a:srgbClr val="1F385C"/>
                </a:solidFill>
                <a:latin typeface="Arial"/>
              </a:defRPr>
            </a:pPr>
            <a:r>
              <a:t>3. SLA &amp; Complaint Tracker</a:t>
            </a:r>
          </a:p>
          <a:p>
            <a:pPr algn="ctr">
              <a:defRPr sz="1000">
                <a:solidFill>
                  <a:srgbClr val="1E1E1E"/>
                </a:solidFill>
                <a:latin typeface="Arial"/>
              </a:defRPr>
            </a:pPr>
            <a:r>
              <a:t>Stage Resolution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3413455" cy="118872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137160"/>
          <a:lstStyle/>
          <a:p>
            <a:pPr algn="ctr">
              <a:defRPr sz="1100" b="1">
                <a:solidFill>
                  <a:srgbClr val="1F385C"/>
                </a:solidFill>
                <a:latin typeface="Arial"/>
              </a:defRPr>
            </a:pPr>
            <a:r>
              <a:t>4. Interactive GIS Map</a:t>
            </a:r>
          </a:p>
          <a:p>
            <a:pPr algn="ctr">
              <a:defRPr sz="1000">
                <a:solidFill>
                  <a:srgbClr val="1E1E1E"/>
                </a:solidFill>
                <a:latin typeface="Arial"/>
              </a:defRPr>
            </a:pPr>
            <a:r>
              <a:t>Leaflet Spatial Markers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926080"/>
            <a:ext cx="3413455" cy="118872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137160"/>
          <a:lstStyle/>
          <a:p>
            <a:pPr algn="ctr">
              <a:defRPr sz="1100" b="1">
                <a:solidFill>
                  <a:srgbClr val="1F385C"/>
                </a:solidFill>
                <a:latin typeface="Arial"/>
              </a:defRPr>
            </a:pPr>
            <a:r>
              <a:t>5. AI Multilingual Assistant</a:t>
            </a:r>
          </a:p>
          <a:p>
            <a:pPr algn="ctr">
              <a:defRPr sz="1000">
                <a:solidFill>
                  <a:srgbClr val="1E1E1E"/>
                </a:solidFill>
                <a:latin typeface="Arial"/>
              </a:defRPr>
            </a:pPr>
            <a:r>
              <a:t>Groq Tamil &amp; English NLP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3413455" cy="118872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137160"/>
          <a:lstStyle/>
          <a:p>
            <a:pPr algn="ctr">
              <a:defRPr sz="1100" b="1">
                <a:solidFill>
                  <a:srgbClr val="1F385C"/>
                </a:solidFill>
                <a:latin typeface="Arial"/>
              </a:defRPr>
            </a:pPr>
            <a:r>
              <a:t>6. AI Vision Inspector</a:t>
            </a:r>
          </a:p>
          <a:p>
            <a:pPr algn="ctr">
              <a:defRPr sz="1000">
                <a:solidFill>
                  <a:srgbClr val="1E1E1E"/>
                </a:solidFill>
                <a:latin typeface="Arial"/>
              </a:defRPr>
            </a:pPr>
            <a:r>
              <a:t>Automated Hazard Proof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846320"/>
            <a:ext cx="3413455" cy="118872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137160"/>
          <a:lstStyle/>
          <a:p>
            <a:pPr algn="ctr">
              <a:defRPr sz="1100" b="1">
                <a:solidFill>
                  <a:srgbClr val="1F385C"/>
                </a:solidFill>
                <a:latin typeface="Arial"/>
              </a:defRPr>
            </a:pPr>
            <a:r>
              <a:t>7. Govt Scheme Checker</a:t>
            </a:r>
          </a:p>
          <a:p>
            <a:pPr algn="ctr">
              <a:defRPr sz="1000">
                <a:solidFill>
                  <a:srgbClr val="1E1E1E"/>
                </a:solidFill>
                <a:latin typeface="Arial"/>
              </a:defRPr>
            </a:pPr>
            <a:r>
              <a:t>Rule Eligibility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4846320"/>
            <a:ext cx="3413455" cy="118872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137160"/>
          <a:lstStyle/>
          <a:p>
            <a:pPr algn="ctr">
              <a:defRPr sz="1100" b="1">
                <a:solidFill>
                  <a:srgbClr val="1F385C"/>
                </a:solidFill>
                <a:latin typeface="Arial"/>
              </a:defRPr>
            </a:pPr>
            <a:r>
              <a:t>8. Emergency &amp; Transit Hub</a:t>
            </a:r>
          </a:p>
          <a:p>
            <a:pPr algn="ctr">
              <a:defRPr sz="1000">
                <a:solidFill>
                  <a:srgbClr val="1E1E1E"/>
                </a:solidFill>
                <a:latin typeface="Arial"/>
              </a:defRPr>
            </a:pPr>
            <a:r>
              <a:t>Distress &amp; Traffic Alert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12.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120640" cy="246888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228600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F385C"/>
                </a:solidFill>
                <a:latin typeface="Arial"/>
              </a:defRPr>
            </a:pPr>
            <a:r>
              <a:t>FRONTEND ARCHITECTURE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Programming Languages: HTML5, CSS3, JavaScript (ES6+)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PWA Capabilities: Service Worker &amp; Web App Manifest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Geospatial Engine: Leaflet.js &amp; OpenStreetMap Tiles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Speech Interface: Web Speech API (Browser STT)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9535" y="1097280"/>
            <a:ext cx="5120640" cy="246888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228600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F385C"/>
                </a:solidFill>
                <a:latin typeface="Arial"/>
              </a:defRPr>
            </a:pPr>
            <a:r>
              <a:t>BACKEND &amp; API INFRASTRUCTURE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Runtime Environment: Node.js Runtime Engine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Web Framework: Express.js RESTful API Framework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Architecture Pattern: Model-View-Controller (MVC)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Security &amp; Auth: JWT Token Guard &amp; bcryptjs Hashing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49039"/>
            <a:ext cx="5120640" cy="246888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228600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F385C"/>
                </a:solidFill>
                <a:latin typeface="Arial"/>
              </a:defRPr>
            </a:pPr>
            <a:r>
              <a:t>DATABASE &amp; DATA STORAGE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Primary Relational Store: Supabase PostgreSQL DB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Secondary Fallback: MongoDB Data Store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Spatial Indexing: PostGIS Geolocation Queries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Asset Compression: Base64 Multi-Modal Compression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3749039"/>
            <a:ext cx="5120640" cy="246888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228600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F385C"/>
                </a:solidFill>
                <a:latin typeface="Arial"/>
              </a:defRPr>
            </a:pPr>
            <a:r>
              <a:t>ARTIFICIAL INTELLIGENCE MODELS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Inference Hardware: Groq LPU High-Speed Engine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Text NLP Model: openai/gpt-oss-120b Engine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Vision Inspection: Groq Multi-Modal Vision AI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Eligibility Engine: Rule-Based Deterministic Engine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13. Dataset / Data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120640" cy="2468880"/>
          </a:xfrm>
          <a:prstGeom prst="rect">
            <a:avLst/>
          </a:prstGeom>
          <a:solidFill>
            <a:srgbClr val="F5F6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228600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F385C"/>
                </a:solidFill>
                <a:latin typeface="Arial"/>
              </a:defRPr>
            </a:pPr>
            <a:r>
              <a:t>1. CITIZEN TEXT &amp; VOICE LOGS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Data Source: User-submitted grievance descriptions.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Type &amp; Format: Text strings &amp; browser voice transcripts.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Languages: Tamil script, Tanglish &amp; English.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Preprocessing: HTML sanitization &amp; NLP tokenization.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9535" y="1097280"/>
            <a:ext cx="5120640" cy="2468880"/>
          </a:xfrm>
          <a:prstGeom prst="rect">
            <a:avLst/>
          </a:prstGeom>
          <a:solidFill>
            <a:srgbClr val="F5F6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228600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F385C"/>
                </a:solidFill>
                <a:latin typeface="Arial"/>
              </a:defRPr>
            </a:pPr>
            <a:r>
              <a:t>2. SPATIAL GEOLOCATION DATA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Data Source: HTML5 Geolocation API &amp; Leaflet pins.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Type &amp; Format: Latitude &amp; Longitude decimal floats.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Attributes: Precise GPS coordinates &amp; address labels.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Processing: Haversine distance spatial clustering.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49039"/>
            <a:ext cx="5120640" cy="2468880"/>
          </a:xfrm>
          <a:prstGeom prst="rect">
            <a:avLst/>
          </a:prstGeom>
          <a:solidFill>
            <a:srgbClr val="F5F6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228600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F385C"/>
                </a:solidFill>
                <a:latin typeface="Arial"/>
              </a:defRPr>
            </a:pPr>
            <a:r>
              <a:t>3. MULTI-MODAL PHOTO ASSETS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Data Source: Citizen camera uploads of hazards.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Type &amp; Format: Compressed JPEG / PNG image files.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Inspection Focus: Potholes, garbage, waterlogging.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Preprocessing: Base64 encoding &amp; Base64 compression (~150KB).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3749039"/>
            <a:ext cx="5120640" cy="2468880"/>
          </a:xfrm>
          <a:prstGeom prst="rect">
            <a:avLst/>
          </a:prstGeom>
          <a:solidFill>
            <a:srgbClr val="F5F6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228600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F385C"/>
                </a:solidFill>
                <a:latin typeface="Arial"/>
              </a:defRPr>
            </a:pPr>
            <a:r>
              <a:t>4. GOVERNMENT WELFARE CORPUS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Data Source: Official Tamil Nadu &amp; Central portal rules.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Type &amp; Format: Structured JSON scheme criteria records.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Attributes: Income caps, age bounds, community rules.</a:t>
            </a:r>
          </a:p>
          <a:p>
            <a:pPr algn="l">
              <a:spcAft>
                <a:spcPts val="3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Matching: Rule-based deterministic engine query.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14. Algorithm / Model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731520"/>
          </a:xfrm>
          <a:prstGeom prst="rect">
            <a:avLst/>
          </a:prstGeom>
          <a:solidFill>
            <a:srgbClr val="F5F6F8"/>
          </a:solidFill>
          <a:ln w="1905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F385C"/>
                </a:solidFill>
                <a:latin typeface="Arial"/>
              </a:defRPr>
            </a:pPr>
            <a:r>
              <a:t>INPUT DATA PIPELINE: Citizen Text Descriptions, Tamil/Tanglish Voice Transcripts &amp; Field Photo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965960"/>
            <a:ext cx="5608015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/>
          <a:lstStyle/>
          <a:p>
            <a:pPr algn="ctr">
              <a:defRPr sz="1300" b="1">
                <a:solidFill>
                  <a:srgbClr val="1F385C"/>
                </a:solidFill>
                <a:latin typeface="Arial"/>
              </a:defRPr>
            </a:pPr>
            <a:r>
              <a:t>CORE GROQ MULTI-MODAL AI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2423160"/>
            <a:ext cx="5150815" cy="731520"/>
          </a:xfrm>
          <a:prstGeom prst="rect">
            <a:avLst/>
          </a:prstGeom>
          <a:solidFill>
            <a:srgbClr val="F5F6F8"/>
          </a:solidFill>
          <a:ln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1E1E"/>
                </a:solidFill>
                <a:latin typeface="Arial"/>
              </a:defRPr>
            </a:pPr>
            <a:r>
              <a:t>openai/gpt-oss-120b Text NLP Model</a:t>
            </a:r>
            <a:br/>
            <a:r>
              <a:t>(Translates Tamil/Tanglish to English &amp; Extracts Intent)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3291840"/>
            <a:ext cx="5150815" cy="731520"/>
          </a:xfrm>
          <a:prstGeom prst="rect">
            <a:avLst/>
          </a:prstGeom>
          <a:solidFill>
            <a:srgbClr val="F5F6F8"/>
          </a:solidFill>
          <a:ln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1E1E"/>
                </a:solidFill>
                <a:latin typeface="Arial"/>
              </a:defRPr>
            </a:pPr>
            <a:r>
              <a:t>Groq Multi-Modal Vision AI Engine</a:t>
            </a:r>
            <a:br/>
            <a:r>
              <a:t>(Pre-validates Potholes, Waterlogging &amp; Infrastructure Proof)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4160520"/>
            <a:ext cx="5150815" cy="73152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Deterministic Welfare Scheme Matcher</a:t>
            </a:r>
            <a:br/>
            <a:r>
              <a:t>(Evaluates Citizen Profiles Against Government Criteria)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65960"/>
            <a:ext cx="2377440" cy="32918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137160"/>
          <a:lstStyle/>
          <a:p>
            <a:pPr algn="ctr">
              <a:defRPr sz="1200" b="1">
                <a:solidFill>
                  <a:srgbClr val="1F385C"/>
                </a:solidFill>
                <a:latin typeface="Arial"/>
              </a:defRPr>
            </a:pPr>
            <a:r>
              <a:t>CLASSIFICATION</a:t>
            </a:r>
            <a:br/>
            <a:r>
              <a:t>OUTPUT</a:t>
            </a:r>
            <a:br/>
          </a:p>
          <a:p>
            <a:pPr>
              <a:defRPr sz="1000">
                <a:solidFill>
                  <a:srgbClr val="1E1E1E"/>
                </a:solidFill>
                <a:latin typeface="Arial"/>
              </a:defRPr>
            </a:pPr>
            <a:r>
              <a:t>• Dept Auto-Routing</a:t>
            </a:r>
            <a:br/>
            <a:r>
              <a:t>• Urgency Rating (1-5)</a:t>
            </a:r>
            <a:br/>
            <a:r>
              <a:t>• SLA Dispatch Target</a:t>
            </a:r>
            <a:br/>
            <a:r>
              <a:t>• Scheme Match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2735" y="1965960"/>
            <a:ext cx="2377440" cy="32918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137160"/>
          <a:lstStyle/>
          <a:p>
            <a:pPr algn="ctr">
              <a:defRPr sz="1200" b="1">
                <a:solidFill>
                  <a:srgbClr val="1F385C"/>
                </a:solidFill>
                <a:latin typeface="Arial"/>
              </a:defRPr>
            </a:pPr>
            <a:r>
              <a:t>VISUAL PROOF</a:t>
            </a:r>
            <a:br/>
            <a:r>
              <a:t>VERIFICATION</a:t>
            </a:r>
            <a:br/>
          </a:p>
          <a:p>
            <a:pPr>
              <a:defRPr sz="1000">
                <a:solidFill>
                  <a:srgbClr val="1E1E1E"/>
                </a:solidFill>
                <a:latin typeface="Arial"/>
              </a:defRPr>
            </a:pPr>
            <a:r>
              <a:t>• Image Pre-Validation</a:t>
            </a:r>
            <a:br/>
            <a:r>
              <a:t>• Fraud Detection</a:t>
            </a:r>
            <a:br/>
            <a:r>
              <a:t>• Hazard Severity Score</a:t>
            </a:r>
            <a:br/>
            <a:r>
              <a:t>• GPS Geofence Match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394960"/>
            <a:ext cx="10728655" cy="77724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EVALUATION &amp; BENCHMARKING TARGETS: Inference Response Latency &lt;1 Second  |  Zero-Trust Auth Security  |  High Triage Reliability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15. 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1554480"/>
          </a:xfrm>
          <a:prstGeom prst="rect">
            <a:avLst/>
          </a:prstGeom>
          <a:solidFill>
            <a:srgbClr val="1F385C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274320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TIER 1: PUBLIC GOVERNANCE &amp; TRUST IMPACT</a:t>
            </a:r>
          </a:p>
          <a:p>
            <a:pPr algn="l">
              <a:defRPr sz="1050">
                <a:solidFill>
                  <a:srgbClr val="FFFFFF"/>
                </a:solidFill>
                <a:latin typeface="Arial"/>
              </a:defRPr>
            </a:pPr>
            <a:r>
              <a:t>• Single-window digital platform connecting citizens directly with municipal authorities.</a:t>
            </a:r>
          </a:p>
          <a:p>
            <a:pPr algn="l">
              <a:defRPr sz="1050">
                <a:solidFill>
                  <a:srgbClr val="FFFFFF"/>
                </a:solidFill>
                <a:latin typeface="Arial"/>
              </a:defRPr>
            </a:pPr>
            <a:r>
              <a:t>• Elimination of language barriers via Tamil, Tanglish &amp; English multi-lingual AI processing.</a:t>
            </a:r>
          </a:p>
          <a:p>
            <a:pPr algn="l">
              <a:defRPr sz="1050">
                <a:solidFill>
                  <a:srgbClr val="FFFFFF"/>
                </a:solidFill>
                <a:latin typeface="Arial"/>
              </a:defRPr>
            </a:pPr>
            <a:r>
              <a:t>• Restored public trust through 100% transparent SLA resolution tracking.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0728655" cy="155448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274320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1E1E1E"/>
                </a:solidFill>
                <a:latin typeface="Arial"/>
              </a:defRPr>
            </a:pPr>
            <a:r>
              <a:t>TIER 2: OPERATIONAL &amp; TECHNICAL EFFICIENCY</a:t>
            </a:r>
          </a:p>
          <a:p>
            <a:pPr algn="l">
              <a:defRPr sz="1050">
                <a:solidFill>
                  <a:srgbClr val="1E1E1E"/>
                </a:solidFill>
                <a:latin typeface="Arial"/>
              </a:defRPr>
            </a:pPr>
            <a:r>
              <a:t>• Automated AI-driven triage reducing complaint routing latency from days to under 1 second.</a:t>
            </a:r>
          </a:p>
          <a:p>
            <a:pPr algn="l">
              <a:defRPr sz="1050">
                <a:solidFill>
                  <a:srgbClr val="1E1E1E"/>
                </a:solidFill>
                <a:latin typeface="Arial"/>
              </a:defRPr>
            </a:pPr>
            <a:r>
              <a:t>• Exact GPS spatial coordinate mapping enabling precise municipal field inspector dispatch.</a:t>
            </a:r>
          </a:p>
          <a:p>
            <a:pPr algn="l">
              <a:defRPr sz="1050">
                <a:solidFill>
                  <a:srgbClr val="1E1E1E"/>
                </a:solidFill>
                <a:latin typeface="Arial"/>
              </a:defRPr>
            </a:pPr>
            <a:r>
              <a:t>• Streamlined welfare scheme matching expanding government support accessibility.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10728655" cy="155448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274320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1E1E1E"/>
                </a:solidFill>
                <a:latin typeface="Arial"/>
              </a:defRPr>
            </a:pPr>
            <a:r>
              <a:t>TIER 3: FUNCTIONAL CITIZEN BENEFITS</a:t>
            </a:r>
          </a:p>
          <a:p>
            <a:pPr algn="l">
              <a:defRPr sz="1050">
                <a:solidFill>
                  <a:srgbClr val="1E1E1E"/>
                </a:solidFill>
                <a:latin typeface="Arial"/>
              </a:defRPr>
            </a:pPr>
            <a:r>
              <a:t>• Simple photo + location complaint registration without complex administrative forms.</a:t>
            </a:r>
          </a:p>
          <a:p>
            <a:pPr algn="l">
              <a:defRPr sz="1050">
                <a:solidFill>
                  <a:srgbClr val="1E1E1E"/>
                </a:solidFill>
                <a:latin typeface="Arial"/>
              </a:defRPr>
            </a:pPr>
            <a:r>
              <a:t>• Instant distress helpline access &amp; real-time transportation hazard notifications.</a:t>
            </a:r>
          </a:p>
          <a:p>
            <a:pPr algn="l">
              <a:defRPr sz="1050">
                <a:solidFill>
                  <a:srgbClr val="1E1E1E"/>
                </a:solidFill>
                <a:latin typeface="Arial"/>
              </a:defRPr>
            </a:pPr>
            <a:r>
              <a:t>• Gamified civic feedback upvoting empowering community-driven hazard prioritization.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16. 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5120640"/>
          </a:xfrm>
          <a:prstGeom prst="rect">
            <a:avLst/>
          </a:prstGeom>
          <a:solidFill>
            <a:srgbClr val="F5F6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0" lIns="365760" rIns="365760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1F385C"/>
                </a:solidFill>
                <a:latin typeface="Arial"/>
              </a:defRPr>
            </a:pPr>
            <a:r>
              <a:t>SUITABLE EVALUATION METRICS</a:t>
            </a:r>
          </a:p>
          <a:p>
            <a:pPr algn="l">
              <a:spcAft>
                <a:spcPts val="1200"/>
              </a:spcAft>
              <a:defRPr sz="1200" b="1">
                <a:solidFill>
                  <a:srgbClr val="1F385C"/>
                </a:solidFill>
                <a:latin typeface="Arial"/>
              </a:defRPr>
            </a:pPr>
            <a:r>
              <a:t>• AI / ML Metrics: </a:t>
            </a:r>
            <a:r>
              <a:rPr b="0">
                <a:solidFill>
                  <a:srgbClr val="1E1E1E"/>
                </a:solidFill>
              </a:rPr>
              <a:t>Accuracy, Precision, Recall, F1-Score for automated complaint classification and department routing [TO BE MEASURED].</a:t>
            </a:r>
          </a:p>
          <a:p>
            <a:pPr algn="l">
              <a:spcAft>
                <a:spcPts val="1200"/>
              </a:spcAft>
              <a:defRPr sz="1200" b="1">
                <a:solidFill>
                  <a:srgbClr val="1F385C"/>
                </a:solidFill>
                <a:latin typeface="Arial"/>
              </a:defRPr>
            </a:pPr>
            <a:r>
              <a:t>• Software Metrics: </a:t>
            </a:r>
            <a:r>
              <a:rPr b="0">
                <a:solidFill>
                  <a:srgbClr val="1E1E1E"/>
                </a:solidFill>
              </a:rPr>
              <a:t>API Response Time [TO BE MEASURED], Page Load Speed [TO BE MEASURED], System Throughput &amp; Reliability [TO BE MEASURED].</a:t>
            </a:r>
          </a:p>
          <a:p>
            <a:pPr algn="l">
              <a:spcAft>
                <a:spcPts val="1200"/>
              </a:spcAft>
              <a:defRPr sz="1200" b="1">
                <a:solidFill>
                  <a:srgbClr val="1F385C"/>
                </a:solidFill>
                <a:latin typeface="Arial"/>
              </a:defRPr>
            </a:pPr>
            <a:r>
              <a:t>• Usability &amp; Accessibility: </a:t>
            </a:r>
            <a:r>
              <a:rPr b="0">
                <a:solidFill>
                  <a:srgbClr val="1E1E1E"/>
                </a:solidFill>
              </a:rPr>
              <a:t>Citizen task completion rate and multi-lingual user satisfaction score [TO BE MEASURED].</a:t>
            </a:r>
          </a:p>
          <a:p>
            <a:pPr algn="l">
              <a:spcAft>
                <a:spcPts val="1200"/>
              </a:spcAft>
              <a:defRPr sz="1200" b="1">
                <a:solidFill>
                  <a:srgbClr val="1F385C"/>
                </a:solidFill>
                <a:latin typeface="Arial"/>
              </a:defRPr>
            </a:pPr>
            <a:r>
              <a:t>• Security &amp; Auth Integrity: </a:t>
            </a:r>
            <a:r>
              <a:rPr b="0">
                <a:solidFill>
                  <a:srgbClr val="1E1E1E"/>
                </a:solidFill>
              </a:rPr>
              <a:t>Verified zero-trust JWT authentication and password hashing security parameters.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17. 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5120640"/>
          </a:xfrm>
          <a:prstGeom prst="rect">
            <a:avLst/>
          </a:prstGeom>
          <a:solidFill>
            <a:srgbClr val="F5F6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0" lIns="365760" rIns="365760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1F385C"/>
                </a:solidFill>
                <a:latin typeface="Arial"/>
              </a:defRPr>
            </a:pPr>
            <a:r>
              <a:t>PHASE I &amp; PHASE II PROJECT TIMELINE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F385C"/>
                </a:solidFill>
                <a:latin typeface="Arial"/>
              </a:defRPr>
            </a:pPr>
            <a:r>
              <a:t>Problem Identification ➔ Literature Survey ➔ Requirements Analysis ➔ System Architecture Design ➔ Development ➔ Testing &amp; Integration ➔ Documentation</a:t>
            </a:r>
          </a:p>
          <a:p>
            <a:pPr algn="l">
              <a:spcAft>
                <a:spcPts val="1000"/>
              </a:spcAft>
              <a:defRPr sz="1200" b="1">
                <a:solidFill>
                  <a:srgbClr val="1E1E1E"/>
                </a:solidFill>
                <a:latin typeface="Arial"/>
              </a:defRPr>
            </a:pPr>
            <a:r>
              <a:t>Planned Milestones &amp; Stages: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1E1E"/>
                </a:solidFill>
                <a:latin typeface="Arial"/>
              </a:defRPr>
            </a:pPr>
            <a:r>
              <a:t>• Phase 1 (Problem Identification &amp; Literature Survey): Completed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1E1E"/>
                </a:solidFill>
                <a:latin typeface="Arial"/>
              </a:defRPr>
            </a:pPr>
            <a:r>
              <a:t>• Phase 2 (Requirement Analysis &amp; Architecture Design): Completed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1E1E"/>
                </a:solidFill>
                <a:latin typeface="Arial"/>
              </a:defRPr>
            </a:pPr>
            <a:r>
              <a:t>• Phase 3 (Core Implementation &amp; AI Integration): Completed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1E1E"/>
                </a:solidFill>
                <a:latin typeface="Arial"/>
              </a:defRPr>
            </a:pPr>
            <a:r>
              <a:t>• Phase 4 (System Testing &amp; Performance Evaluation): In Progress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1E1E"/>
                </a:solidFill>
                <a:latin typeface="Arial"/>
              </a:defRPr>
            </a:pPr>
            <a:r>
              <a:t>• Phase 5 (Final Documentation &amp; Review): Upcoming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18. Work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413455" cy="23774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137160" rIns="137160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1F385C"/>
                </a:solidFill>
                <a:latin typeface="Arial"/>
              </a:defRPr>
            </a:pPr>
            <a:r>
              <a:t>1. PROBLEM IDENTIFICATION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Identified fragmented paper, IVR, and multi-portal registration issues.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Mapped administrative triage delays &amp; lack of citizen SLA tracking.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Defined single-window welfare scheme access requirements.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097280"/>
            <a:ext cx="3413455" cy="23774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137160" rIns="137160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1F385C"/>
                </a:solidFill>
                <a:latin typeface="Arial"/>
              </a:defRPr>
            </a:pPr>
            <a:r>
              <a:t>2. LITERATURE SURVEY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Surveyed 5 IEEE research papers (2021-2024) on smart cities &amp; NLP.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Evaluated YOLOv5 pothole detection &amp; municipal query chatbots.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Analyzed e-governance complaint routing &amp; rule-based engines.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097280"/>
            <a:ext cx="3413455" cy="23774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137160" rIns="137160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1F385C"/>
                </a:solidFill>
                <a:latin typeface="Arial"/>
              </a:defRPr>
            </a:pPr>
            <a:r>
              <a:t>3. RESEARCH GAP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Identified missing links between reporting, AI triage &amp; schemes.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Found lack of regional Tamil/Tanglish multi-lingual support.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Formulated CrowdCity AI multi-modal architecture.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3413455" cy="23774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137160" rIns="137160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1F385C"/>
                </a:solidFill>
                <a:latin typeface="Arial"/>
              </a:defRPr>
            </a:pPr>
            <a:r>
              <a:t>4. OBJECTIVES FORMULATION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Objective 1: Centralized citizen &amp; authority ops platform.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Objective 2: Groq AI automated complaint triage &amp; NLP.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Objective 3: GPS spatial mapping &amp; multi-modal photo proof.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749039"/>
            <a:ext cx="3413455" cy="23774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137160" rIns="137160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1F385C"/>
                </a:solidFill>
                <a:latin typeface="Arial"/>
              </a:defRPr>
            </a:pPr>
            <a:r>
              <a:t>5. METHODOLOGY &amp; ARCHITECTURE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Formulated 11-step end-to-end process flowchart (Input to Tracking).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Designed 6-layer system architecture (User, Backend, AI, Data).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Established JWT security &amp; Supabase PostgreSQL schema.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3749039"/>
            <a:ext cx="3413455" cy="23774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 lIns="137160" rIns="137160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1F385C"/>
                </a:solidFill>
                <a:latin typeface="Arial"/>
              </a:defRPr>
            </a:pPr>
            <a:r>
              <a:t>6. STACK &amp; PROTOTYPE MVP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Built Node.js &amp; Express RESTful API MVC controllers.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Integrated Groq LPU with openai/gpt-oss-120b &amp; Vision AI.</a:t>
            </a:r>
          </a:p>
          <a:p>
            <a:pPr algn="l">
              <a:spcAft>
                <a:spcPts val="3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• Developed Leaflet.js interactive map with real-time hazard pins.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19.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413455" cy="51206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28600" lIns="182880" rIns="182880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1F385C"/>
                </a:solidFill>
                <a:latin typeface="Arial"/>
              </a:defRPr>
            </a:pPr>
            <a:r>
              <a:t>PHASE 1: NEAR-TERM REFINEMENT</a:t>
            </a:r>
          </a:p>
          <a:p>
            <a:pPr algn="l">
              <a:spcAft>
                <a:spcPts val="10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• Finalizing administrative authority dashboard controls.</a:t>
            </a:r>
          </a:p>
          <a:p>
            <a:pPr algn="l">
              <a:spcAft>
                <a:spcPts val="10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• Optimizing multi-lingual voice recognition triggers.</a:t>
            </a:r>
          </a:p>
          <a:p>
            <a:pPr algn="l">
              <a:spcAft>
                <a:spcPts val="10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• Refining rule-based scheme eligibility checker logic.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097280"/>
            <a:ext cx="3413455" cy="51206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28600" lIns="182880" rIns="182880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1F385C"/>
                </a:solidFill>
                <a:latin typeface="Arial"/>
              </a:defRPr>
            </a:pPr>
            <a:r>
              <a:t>PHASE 2: PREDICTIVE ANALYTICS &amp; VISION</a:t>
            </a:r>
          </a:p>
          <a:p>
            <a:pPr algn="l">
              <a:spcAft>
                <a:spcPts val="10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• Fine-tuning custom computer vision models for road damage.</a:t>
            </a:r>
          </a:p>
          <a:p>
            <a:pPr algn="l">
              <a:spcAft>
                <a:spcPts val="10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• Integrating predictive analytics for urban decay trends.</a:t>
            </a:r>
          </a:p>
          <a:p>
            <a:pPr algn="l">
              <a:spcAft>
                <a:spcPts val="10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• Adding flood, weather &amp; traffic hotspot intelligence.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097280"/>
            <a:ext cx="3413455" cy="5120640"/>
          </a:xfrm>
          <a:prstGeom prst="rect">
            <a:avLst/>
          </a:prstGeom>
          <a:solidFill>
            <a:srgbClr val="F5F6F8"/>
          </a:solidFill>
          <a:ln w="15240">
            <a:solidFill>
              <a:srgbClr val="1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28600" lIns="182880" rIns="182880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1F385C"/>
                </a:solidFill>
                <a:latin typeface="Arial"/>
              </a:defRPr>
            </a:pPr>
            <a:r>
              <a:t>PHASE 3: PORTAL &amp; MOBILE EXPANSION</a:t>
            </a:r>
          </a:p>
          <a:p>
            <a:pPr algn="l">
              <a:spcAft>
                <a:spcPts val="10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• Developing native Android &amp; iOS mobile applications.</a:t>
            </a:r>
          </a:p>
          <a:p>
            <a:pPr algn="l">
              <a:spcAft>
                <a:spcPts val="10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• Direct API integration with state e-Sevai portals.</a:t>
            </a:r>
          </a:p>
          <a:p>
            <a:pPr algn="l">
              <a:spcAft>
                <a:spcPts val="10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• Conducting full municipal zone pilot deployments.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20.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[1] S. Mellouer, A. El Amrani, and H. Bouzahir, "Mobile crowdsensing and GIS integration for smart city hazard management," IEEE Access, vol. 11, pp. 45210-45222, 2023.</a:t>
            </a:r>
          </a:p>
          <a:p>
            <a:pPr algn="l">
              <a:spcAft>
                <a:spcPts val="1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[2] A. Kumar and R. Sharma, "Automated municipal road hazard detection using deep convolutional neural networks," IEEE Transactions on Intelligent Transportation Systems, vol. 23, no. 8, pp. 12890-12901, 2022.</a:t>
            </a:r>
          </a:p>
          <a:p>
            <a:pPr algn="l">
              <a:spcAft>
                <a:spcPts val="1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[3] R. Sharma, P. Gupta, and V. Singh, "Multilingual natural language processing for automated public grievance resolution in smart cities," in Proceedings of the IEEE International Conference on Smart Cities (ICSC), 2024, pp. 112-119.</a:t>
            </a:r>
          </a:p>
          <a:p>
            <a:pPr algn="l">
              <a:spcAft>
                <a:spcPts val="1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[4] M. Patel and S. Gupta, "E-governance complaint classification and automated department routing using machine learning," IEEE Transactions on Engineering Management, vol. 70, no. 3, pp. 945-956, 2021.</a:t>
            </a:r>
          </a:p>
          <a:p>
            <a:pPr algn="l">
              <a:spcAft>
                <a:spcPts val="1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[5] K. Varma, R. Nair, and T. Sundaram, "Automated welfare scheme eligibility processing using rule engines," IEEE Transactions on Computational Social Systems, vol. 10, no. 4, pp. 1820-1831, 2023.</a:t>
            </a:r>
          </a:p>
          <a:p>
            <a:pPr algn="l">
              <a:spcAft>
                <a:spcPts val="1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[6] Groq Cloud &amp; Supabase Inc., "Groq LPU Inference Engine and Supabase PostgreSQL Architecture Documentation," 2026. [Online]. Available: https://groq.com, https://supabase.com.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Literature Survey – Suggested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7295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2194560"/>
                <a:gridCol w="2194560"/>
                <a:gridCol w="2194560"/>
                <a:gridCol w="2316175"/>
              </a:tblGrid>
              <a:tr h="8763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S.No.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/ Topic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 / Technology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S. Mellouer et al.</a:t>
                      </a:r>
                      <a:br/>
                      <a:r>
                        <a:t>(2023)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Mobile Crowdsensing &amp; GIS Hazard Management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Mobile Crowdsensing &amp; GIS Mapping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Enhanced spatial hazard mapping accuracy and citizen participation.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High battery consumption; lacks automated AI triage.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A. Kumar &amp; R. Sharma</a:t>
                      </a:r>
                      <a:br/>
                      <a:r>
                        <a:t>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Deep Learning for Municipal Road Hazard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CNN &amp; Computer Vision (YOLOv5)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Achieved 91% accuracy in detecting road craters from citizen photos.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Limited to road hazards; lacks backend authority integration.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R. Sharma et al.</a:t>
                      </a:r>
                      <a:br/>
                      <a:r>
                        <a:t>(2024)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Multilingual NLP Chatbots in Public Admin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LLMs &amp; Retrieval-Augmented Generation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Improved public query resolution response speed by 45%.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English-only focus; lacks Tamil/Tanglish multi-lingual support.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M. Patel &amp; S. Gupta</a:t>
                      </a:r>
                      <a:br/>
                      <a:r>
                        <a:t>(2021)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Automated Complaint Triage in E-Governance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Text Classification &amp; 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Automated department routing for text-based citizen grievances.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Inability to analyze multi-modal image evidence or GPS context.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K. Varma et al.</a:t>
                      </a:r>
                      <a:br/>
                      <a:r>
                        <a:t>(2023)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Integrated Welfare Scheme Eligibility Engines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Rule-Based Engines &amp; Indexing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Streamlined welfare scheme matching for underprivileged citizens.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Static rules without conversational AI guidance or tracking.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Project Timeline – Suggested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  <a:latin typeface="Arial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72865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144975"/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Planned Date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38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Problem Identification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Aug 2026 – Sep 2026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385C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Literature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Sep 2026 – Oct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385C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Requirement Analysis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Oct 2026 – Nov 2026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385C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System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Nov 2026 – Dec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385C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Dec 2026 – Feb 2027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385C"/>
                          </a:solidFill>
                          <a:latin typeface="Arial"/>
                        </a:defRPr>
                      </a:pPr>
                      <a:r>
                        <a:t>Completed (MVP)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Testing &amp;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Feb 2027 – Mar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Documentation &amp; Review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Mar 2027 – Apr 2027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Upcoming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